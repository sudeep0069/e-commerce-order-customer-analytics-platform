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</c:v>
                </c:pt>
                <c:pt idx="2">
                  <c:v>Sports</c:v>
                </c:pt>
                <c:pt idx="3">
                  <c:v>Fashion</c:v>
                </c:pt>
                <c:pt idx="4">
                  <c:v>Grocery</c:v>
                </c:pt>
                <c:pt idx="5">
                  <c:v>Beauty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430.6</c:v>
                </c:pt>
                <c:pt idx="1">
                  <c:v>71.599999999999994</c:v>
                </c:pt>
                <c:pt idx="2">
                  <c:v>47.6</c:v>
                </c:pt>
                <c:pt idx="3">
                  <c:v>33.4</c:v>
                </c:pt>
                <c:pt idx="4">
                  <c:v>4.2</c:v>
                </c:pt>
                <c:pt idx="5">
                  <c:v>3.8</c:v>
                </c:pt>
                <c:pt idx="6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36-435B-9901-DA7C895FFE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61594</c:v>
                </c:pt>
                <c:pt idx="1">
                  <c:v>87847</c:v>
                </c:pt>
                <c:pt idx="2">
                  <c:v>50169</c:v>
                </c:pt>
                <c:pt idx="3">
                  <c:v>30359</c:v>
                </c:pt>
                <c:pt idx="4">
                  <c:v>15176</c:v>
                </c:pt>
                <c:pt idx="5">
                  <c:v>4855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DB-41A6-BBE3-917D4170B2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84-4FCF-A747-73434E1AE1F5}"/>
              </c:ext>
            </c:extLst>
          </c:dPt>
          <c:dPt>
            <c:idx val="1"/>
            <c:bubble3D val="0"/>
            <c:spPr>
              <a:solidFill>
                <a:srgbClr val="9AA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84-4FCF-A747-73434E1AE1F5}"/>
              </c:ext>
            </c:extLst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84-4FCF-A747-73434E1AE1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84-4FCF-A747-73434E1AE1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84-4FCF-A747-73434E1AE1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84-4FCF-A747-73434E1AE1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Platinum</c:v>
                </c:pt>
                <c:pt idx="1">
                  <c:v>Gold</c:v>
                </c:pt>
                <c:pt idx="2">
                  <c:v>Silver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27349</c:v>
                </c:pt>
                <c:pt idx="1">
                  <c:v>6692</c:v>
                </c:pt>
                <c:pt idx="2">
                  <c:v>5959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84-4FCF-A747-73434E1AE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Uttar Pradesh</c:v>
                </c:pt>
                <c:pt idx="1">
                  <c:v>Rajasthan</c:v>
                </c:pt>
                <c:pt idx="2">
                  <c:v>Haryana</c:v>
                </c:pt>
                <c:pt idx="3">
                  <c:v>Maharashtra</c:v>
                </c:pt>
                <c:pt idx="4">
                  <c:v>Punjab</c:v>
                </c:pt>
                <c:pt idx="5">
                  <c:v>Gujarat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76.8</c:v>
                </c:pt>
                <c:pt idx="1">
                  <c:v>75.7</c:v>
                </c:pt>
                <c:pt idx="2">
                  <c:v>75.5</c:v>
                </c:pt>
                <c:pt idx="3">
                  <c:v>60.6</c:v>
                </c:pt>
                <c:pt idx="4">
                  <c:v>59.9</c:v>
                </c:pt>
                <c:pt idx="5">
                  <c:v>59.9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E8-4FA4-A455-0697C4F474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10-4243-9C82-37726FBDD55D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10-4243-9C82-37726FBDD55D}"/>
              </c:ext>
            </c:extLst>
          </c:dPt>
          <c:dPt>
            <c:idx val="2"/>
            <c:bubble3D val="0"/>
            <c:spPr>
              <a:solidFill>
                <a:srgbClr val="6D7B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10-4243-9C82-37726FBDD55D}"/>
              </c:ext>
            </c:extLst>
          </c:dPt>
          <c:dPt>
            <c:idx val="3"/>
            <c:bubble3D val="0"/>
            <c:spPr>
              <a:solidFill>
                <a:srgbClr val="B9C1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10-4243-9C82-37726FBDD5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10-4243-9C82-37726FBDD5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10-4243-9C82-37726FBDD55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10-4243-9C82-37726FBDD55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10-4243-9C82-37726FBDD5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Cash on Delivery</c:v>
                </c:pt>
                <c:pt idx="2">
                  <c:v>Debit Card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128474</c:v>
                </c:pt>
                <c:pt idx="1">
                  <c:v>82093</c:v>
                </c:pt>
                <c:pt idx="2">
                  <c:v>28856</c:v>
                </c:pt>
                <c:pt idx="3">
                  <c:v>10577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10-4243-9C82-37726FBDD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 w="31750" cap="flat">
              <a:solidFill>
                <a:srgbClr val="F2B13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  <c:pt idx="12">
                  <c:v>Jun'25</c:v>
                </c:pt>
                <c:pt idx="13">
                  <c:v>Jul'25</c:v>
                </c:pt>
                <c:pt idx="14">
                  <c:v>Aug'25</c:v>
                </c:pt>
                <c:pt idx="15">
                  <c:v>Sep'25</c:v>
                </c:pt>
                <c:pt idx="16">
                  <c:v>Oct'25</c:v>
                </c:pt>
                <c:pt idx="17">
                  <c:v>Nov'25</c:v>
                </c:pt>
                <c:pt idx="18">
                  <c:v>Dec'25</c:v>
                </c:pt>
                <c:pt idx="19">
                  <c:v>Jan'26</c:v>
                </c:pt>
                <c:pt idx="20">
                  <c:v>Feb'26</c:v>
                </c:pt>
                <c:pt idx="21">
                  <c:v>Mar'26</c:v>
                </c:pt>
                <c:pt idx="22">
                  <c:v>Apr'26</c:v>
                </c:pt>
                <c:pt idx="23">
                  <c:v>May'26</c:v>
                </c:pt>
                <c:pt idx="24">
                  <c:v>Jun'26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24.1</c:v>
                </c:pt>
                <c:pt idx="1">
                  <c:v>24.1</c:v>
                </c:pt>
                <c:pt idx="2">
                  <c:v>24</c:v>
                </c:pt>
                <c:pt idx="3">
                  <c:v>22.9</c:v>
                </c:pt>
                <c:pt idx="4">
                  <c:v>24</c:v>
                </c:pt>
                <c:pt idx="5">
                  <c:v>23.5</c:v>
                </c:pt>
                <c:pt idx="6">
                  <c:v>24.2</c:v>
                </c:pt>
                <c:pt idx="7">
                  <c:v>24.1</c:v>
                </c:pt>
                <c:pt idx="8">
                  <c:v>21.5</c:v>
                </c:pt>
                <c:pt idx="9">
                  <c:v>24.3</c:v>
                </c:pt>
                <c:pt idx="10">
                  <c:v>24.1</c:v>
                </c:pt>
                <c:pt idx="11">
                  <c:v>24.1</c:v>
                </c:pt>
                <c:pt idx="12">
                  <c:v>23.2</c:v>
                </c:pt>
                <c:pt idx="13">
                  <c:v>23.8</c:v>
                </c:pt>
                <c:pt idx="14">
                  <c:v>24.6</c:v>
                </c:pt>
                <c:pt idx="15">
                  <c:v>22.8</c:v>
                </c:pt>
                <c:pt idx="16">
                  <c:v>24.7</c:v>
                </c:pt>
                <c:pt idx="17">
                  <c:v>23.3</c:v>
                </c:pt>
                <c:pt idx="18">
                  <c:v>24.4</c:v>
                </c:pt>
                <c:pt idx="19">
                  <c:v>23.7</c:v>
                </c:pt>
                <c:pt idx="20">
                  <c:v>22.5</c:v>
                </c:pt>
                <c:pt idx="21">
                  <c:v>24.8</c:v>
                </c:pt>
                <c:pt idx="22">
                  <c:v>23.2</c:v>
                </c:pt>
                <c:pt idx="23">
                  <c:v>23.5</c:v>
                </c:pt>
                <c:pt idx="24">
                  <c:v>23.6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2CE-4030-A74B-68359F278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0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20"/>
        </c:scaling>
        <c:delete val="0"/>
        <c:axPos val="l"/>
        <c:majorGridlines>
          <c:spPr>
            <a:ln w="9525" cap="flat">
              <a:solidFill>
                <a:srgbClr val="E4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6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6C6B-F606-7ED9-0928-81CF049A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8DB19-D538-3A53-6BBC-2E825CC7C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9C563-902E-5799-1A89-DA969C525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5065-7797-5072-CAE1-A1C102B89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96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4709160"/>
            <a:ext cx="1920240" cy="1920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5989320"/>
            <a:ext cx="13075920" cy="18288"/>
          </a:xfrm>
          <a:prstGeom prst="rect">
            <a:avLst/>
          </a:prstGeom>
          <a:solidFill>
            <a:srgbClr val="3B459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Order &amp;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 Platform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250,000 orders, 40,000 customers and 2,000 products into a single source of truth for revenue, profitability and customer insight.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0584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230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 •   Products   •   Sales   •   KPIs   •   Dashboards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B241015-B05C-6676-23D2-4800F65A3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667" y="-15075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consolidates raw transactional and customer data into a governed analytics layer — cleaning, joining and enriching Customer, Product and Sales records into a unified Master Data model. On top of this model sit standardized KPIs and interactive dashboards that let stakeholders track revenue, profitability, customer behavior and fulfillment performance without touching raw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8221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66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across orders, customers &amp; products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239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profitability tracking at the order level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7365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811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tier, age &amp; geography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937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38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fulfillment &amp; payment trends for operations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9933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8928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95160" y="2203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customer records — demographics, tier &amp; lifetime spend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0906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9900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300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SKUs across 7 categories &amp; 33 brands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187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187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0873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Orders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43982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transactions with pricing, coupons &amp; ratings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507492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5285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285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51846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+ KPIs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95160" y="5495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model with cost, profit &amp; derived KPIs powering the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DBCAE372-E067-BE82-F69B-6ED46EB2A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582" y="-45828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69164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₹593.1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(Total Amount)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600200"/>
            <a:ext cx="82296" cy="1691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₹48.6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81144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 ·  8.2% margin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600200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57616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Processed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47872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4672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Customers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25112" y="3547872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81144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across 7 Categories, 33 Brands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01584" y="3547872"/>
            <a:ext cx="82296" cy="169164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/ 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357616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Rating (528K reviews)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7F6210F1-FF22-6DA3-9581-BDBD466A6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4527" y="-42291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 &amp; Top Brands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Brands by Revenue (₹ Cr)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2258568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2258568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2B134"/>
          </a:solidFill>
          <a:ln/>
        </p:spPr>
      </p:sp>
      <p:sp>
        <p:nvSpPr>
          <p:cNvPr id="10" name="Text 7"/>
          <p:cNvSpPr/>
          <p:nvPr/>
        </p:nvSpPr>
        <p:spPr>
          <a:xfrm>
            <a:off x="10533888" y="2221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₹94.2 Cr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7512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04495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3044952"/>
            <a:ext cx="3637604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533888" y="3008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₹91.4 Cr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7512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3831336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0" y="3831336"/>
            <a:ext cx="3351053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533888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₹84.2 Cr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67512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4617720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21" name="Shape 18"/>
          <p:cNvSpPr/>
          <p:nvPr/>
        </p:nvSpPr>
        <p:spPr>
          <a:xfrm>
            <a:off x="6675120" y="4617720"/>
            <a:ext cx="3323194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10533888" y="45811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₹83.5 Cr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75120" y="5111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5404104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675120" y="5404104"/>
            <a:ext cx="3072462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10533888" y="5367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₹77.2 Cr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675120" y="6035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drives 72.6% of total revenue, led by HP, Noise, boAt, Samsung &amp; Apple.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FADC54F0-A676-5754-BF46-3554B3154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Age Group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is the core segment — 35.1% of all orders, followed by 18-25 at 24.6%.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Loyalty Tier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858000" y="1783080"/>
          <a:ext cx="3017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675120" y="4892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 of customers hold Platinum status and account for 93.9% of lifetime customer spend.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75120" y="548640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CEFFB"/>
          </a:solidFill>
          <a:ln/>
        </p:spPr>
      </p:sp>
      <p:sp>
        <p:nvSpPr>
          <p:cNvPr id="11" name="Text 7"/>
          <p:cNvSpPr/>
          <p:nvPr/>
        </p:nvSpPr>
        <p:spPr>
          <a:xfrm>
            <a:off x="6812280" y="5486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50.0% Male · 50.0% Female (near-even across 40,000 customers)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51B0B79C-5D23-A90D-3D20-5B19AE2A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&amp; How Customers Buy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Revenue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Split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949440" y="1783080"/>
          <a:ext cx="2834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675120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with 51.4% of all orders, ahead of Cash on Delivery at 32.8% — cards make up the remaining 15.7%.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675120" y="57607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CEFFB"/>
          </a:solidFill>
          <a:ln/>
        </p:spPr>
      </p:sp>
      <p:sp>
        <p:nvSpPr>
          <p:cNvPr id="10" name="Text 6"/>
          <p:cNvSpPr/>
          <p:nvPr/>
        </p:nvSpPr>
        <p:spPr>
          <a:xfrm>
            <a:off x="6812280" y="5760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39 cities across 10 states — revenue is broad-based, not concentrated in one region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78A484B-5DD7-50AA-F386-B8BB764A7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291" y="-29573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FULFILLMENT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&amp; Order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Jun 2024 to Jun 2026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11247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stable, holding between ₹21.5–24.8 Cr per month for 25 straight months — no seasonal collapse.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5504688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80.1%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200,139 orders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9748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550468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3464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83464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12,459 orders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5504688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8348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8348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12,493 orders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99516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0" y="5504688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2"/>
          <p:cNvSpPr/>
          <p:nvPr/>
        </p:nvSpPr>
        <p:spPr>
          <a:xfrm>
            <a:off x="736092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3232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13232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12,402 orders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14400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81160" y="5504688"/>
            <a:ext cx="146304" cy="146304"/>
          </a:xfrm>
          <a:prstGeom prst="ellipse">
            <a:avLst/>
          </a:prstGeom>
          <a:solidFill>
            <a:srgbClr val="8A8FA6"/>
          </a:solidFill>
          <a:ln/>
        </p:spPr>
      </p:sp>
      <p:sp>
        <p:nvSpPr>
          <p:cNvPr id="30" name="Text 27"/>
          <p:cNvSpPr/>
          <p:nvPr/>
        </p:nvSpPr>
        <p:spPr>
          <a:xfrm>
            <a:off x="950976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8116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28116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12,507 orders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C8EDFB9F-5D45-7860-0FD8-EB54DE26C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892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growth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of ₹593 Cr revenue comes from Electronics — diversify category mix to reduce concentration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892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customers drive the business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 of customers hold Platinum tier, contributing 93.9% of lifetime spend — protect this segment with retention perks.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dominant payment 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of orders are paid via UPI — ensure UPI checkout is frictionless and always available.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is healthy but has room to improve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 Delivered vs. 5.0% Returned and 5.0% Cancelled each — investigate return drivers in the 20% non-delivered orders.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4D8FE9A5-3730-0C9D-6D5B-604999ADE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F940F-724D-C5F6-BC4D-6D67CEEE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E241C3D7-BE36-C736-ECB3-C1DA43B5A757}"/>
              </a:ext>
            </a:extLst>
          </p:cNvPr>
          <p:cNvSpPr txBox="1"/>
          <p:nvPr/>
        </p:nvSpPr>
        <p:spPr>
          <a:xfrm>
            <a:off x="2394339" y="2652980"/>
            <a:ext cx="6819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>
                    <a:lumMod val="95000"/>
                  </a:schemeClr>
                </a:solidFill>
              </a:rPr>
              <a:t>THANK</a:t>
            </a:r>
            <a:r>
              <a:rPr lang="en-US" sz="7200" dirty="0">
                <a:solidFill>
                  <a:schemeClr val="bg1">
                    <a:lumMod val="95000"/>
                  </a:schemeClr>
                </a:solidFill>
              </a:rPr>
              <a:t> YOU</a:t>
            </a:r>
            <a:endParaRPr lang="en-IN" sz="7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8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695</Words>
  <Application>Microsoft Office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SUBHAJIT</dc:creator>
  <cp:lastModifiedBy>Sudeep Sarkar</cp:lastModifiedBy>
  <cp:revision>3</cp:revision>
  <dcterms:created xsi:type="dcterms:W3CDTF">2026-08-29T10:17:59Z</dcterms:created>
  <dcterms:modified xsi:type="dcterms:W3CDTF">2026-08-29T19:39:49Z</dcterms:modified>
</cp:coreProperties>
</file>